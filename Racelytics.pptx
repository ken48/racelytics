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4498848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52728" y="4498848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36776" y="4498848"/>
            <a:ext cx="164592" cy="164592"/>
          </a:xfrm>
          <a:prstGeom prst="ellipse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20824" y="4498848"/>
            <a:ext cx="164592" cy="164592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8703"/>
            <a:ext cx="2011680" cy="1628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Trebuchet MS"/>
              </a:rPr>
              <a:t>Racelytics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A9D8F"/>
                </a:solidFill>
                <a:latin typeface="Trebuchet MS"/>
              </a:rPr>
              <a:t>Аналитика гонок по кругам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7D2CC"/>
                </a:solidFill>
                <a:latin typeface="Calibri"/>
              </a:rPr>
              <a:t>Простой и надёжный дашборд: вставил ссылку на Google Таблицу — и готово.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E8A84"/>
                </a:solidFill>
                <a:latin typeface="Calibri"/>
              </a:rPr>
              <a:t>Для команды организаторов · июнь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9496"/>
            <a:ext cx="1828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7201C"/>
                </a:solidFill>
                <a:latin typeface="Trebuchet MS"/>
              </a:rPr>
              <a:t>Финишный протокол не рассказывает всю гонку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6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8736D"/>
                </a:solidFill>
                <a:latin typeface="Calibri"/>
              </a:rPr>
              <a:t>В таблице есть только итог. А самое интересное — как этот итог сложился по кругам.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999" y="1783080"/>
            <a:ext cx="3456432" cy="370332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047" y="2194560"/>
            <a:ext cx="841248" cy="8412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19456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3337560"/>
            <a:ext cx="2688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7201C"/>
                </a:solidFill>
                <a:latin typeface="Trebuchet MS"/>
              </a:rPr>
              <a:t>Где терялись секунды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4069080"/>
            <a:ext cx="26883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4B554F"/>
                </a:solidFill>
                <a:latin typeface="Calibri"/>
              </a:rPr>
              <a:t>Итог не показывает, на каком круге участник просел или, наоборот, разогнался.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631" y="1783080"/>
            <a:ext cx="3456432" cy="370332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1679" y="2194560"/>
            <a:ext cx="841248" cy="8412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1679" y="219456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679" y="3337560"/>
            <a:ext cx="2688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7201C"/>
                </a:solidFill>
                <a:latin typeface="Trebuchet MS"/>
              </a:rPr>
              <a:t>Как разложили силы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1679" y="4069080"/>
            <a:ext cx="26883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4B554F"/>
                </a:solidFill>
                <a:latin typeface="Calibri"/>
              </a:rPr>
              <a:t>Ровный темп, ускорение к финишу или провал в середине — по протоколу не видно.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1263" y="1783080"/>
            <a:ext cx="3456432" cy="370332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65311" y="2194560"/>
            <a:ext cx="841248" cy="8412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5311" y="2194560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5311" y="3337560"/>
            <a:ext cx="26883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7201C"/>
                </a:solidFill>
                <a:latin typeface="Trebuchet MS"/>
              </a:rPr>
              <a:t>Как менялась борьба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5311" y="4069080"/>
            <a:ext cx="26883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4B554F"/>
                </a:solidFill>
                <a:latin typeface="Calibri"/>
              </a:rPr>
              <a:t>Отрыв от лидера и позиция в зачёте по ходу дистанции остаются за кадром.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9496"/>
            <a:ext cx="1828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7201C"/>
                </a:solidFill>
                <a:latin typeface="Trebuchet MS"/>
              </a:rPr>
              <a:t>Одна ссылка — и дашборд готов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6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8736D"/>
                </a:solidFill>
                <a:latin typeface="Calibri"/>
              </a:rPr>
              <a:t>Страница уже работает в интернете. Вы вставляете адрес своей Google Таблицы — и всё строится само.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12264"/>
            <a:ext cx="4169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8736D"/>
                </a:solidFill>
                <a:latin typeface="Calibri"/>
              </a:rPr>
              <a:t>ССЫЛКА НА CSV-ФАЙЛ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2496312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9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96312"/>
            <a:ext cx="23957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05A"/>
                </a:solidFill>
                <a:latin typeface="Calibri"/>
              </a:rPr>
              <a:t>docs.google.com/…/output=csv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2496312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293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49631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rebuchet MS"/>
              </a:rPr>
              <a:t>Загрузить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74136"/>
            <a:ext cx="4169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34D47"/>
                </a:solidFill>
                <a:latin typeface="Calibri"/>
              </a:rPr>
              <a:t>Берёте опубликованную CSV-ссылку из Google Таблиц и вставляете в это поле. Один раз — дальше она работает всегда.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4264" y="178308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95159" y="2029967"/>
            <a:ext cx="137160" cy="13716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9479" y="2029967"/>
            <a:ext cx="137160" cy="137160"/>
          </a:xfrm>
          <a:prstGeom prst="ellipse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0" y="2029967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1975104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197510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8736D"/>
                </a:solidFill>
                <a:latin typeface="Calibri"/>
              </a:rPr>
              <a:t>racelytics · ваш дашборд</a:t>
            </a:r>
          </a:p>
        </p:txBody>
      </p:sp>
      <p:pic>
        <p:nvPicPr>
          <p:cNvPr id="19" name="Picture 18" descr="compare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8" y="2459736"/>
            <a:ext cx="3298371" cy="18470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00116" y="2743200"/>
            <a:ext cx="1188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D69E2E"/>
                </a:solidFill>
                <a:latin typeface="Trebuchet M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999" y="4754880"/>
            <a:ext cx="3456432" cy="603504"/>
          </a:xfrm>
          <a:prstGeom prst="roundRect">
            <a:avLst>
              <a:gd name="adj" fmla="val 50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6607" y="4965192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7503" y="4754880"/>
            <a:ext cx="26791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5751"/>
                </a:solidFill>
                <a:latin typeface="Calibri"/>
              </a:rPr>
              <a:t>Ничего не устанавливать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7631" y="4754880"/>
            <a:ext cx="3456432" cy="603504"/>
          </a:xfrm>
          <a:prstGeom prst="roundRect">
            <a:avLst>
              <a:gd name="adj" fmla="val 50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0239" y="4965192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1135" y="4754880"/>
            <a:ext cx="26791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5751"/>
                </a:solidFill>
                <a:latin typeface="Calibri"/>
              </a:rPr>
              <a:t>Без аккаунтов и паролей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1263" y="4754880"/>
            <a:ext cx="3456432" cy="603504"/>
          </a:xfrm>
          <a:prstGeom prst="roundRect">
            <a:avLst>
              <a:gd name="adj" fmla="val 50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73871" y="4965192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4767" y="4754880"/>
            <a:ext cx="26791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5751"/>
                </a:solidFill>
                <a:latin typeface="Calibri"/>
              </a:rPr>
              <a:t>Данные остаются в вашей таблице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650992"/>
            <a:ext cx="10881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7201C"/>
                </a:solidFill>
                <a:latin typeface="Calibri"/>
              </a:rPr>
              <a:t>Нет сервера и базы — нечему ломаться. </a:t>
            </a:r>
            <a:r>
              <a:rPr sz="1500" b="0" i="0">
                <a:solidFill>
                  <a:srgbClr val="434D47"/>
                </a:solidFill>
                <a:latin typeface="Calibri"/>
              </a:rPr>
              <a:t>Данные всегда берутся прямо из вашей таблицы.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9496"/>
            <a:ext cx="1828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7201C"/>
                </a:solidFill>
                <a:latin typeface="Trebuchet MS"/>
              </a:rPr>
              <a:t>Всё на одном экране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6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8736D"/>
                </a:solidFill>
                <a:latin typeface="Calibri"/>
              </a:rPr>
              <a:t>Таблица результатов, карточка участника и графики обновляются вместе по фильтрам.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67665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view_wo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71771"/>
            <a:ext cx="6355080" cy="3554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22976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8736D"/>
                </a:solidFill>
                <a:latin typeface="Calibri"/>
              </a:rPr>
              <a:t>Суммарное время по кругам, топ-10 зачёта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057400"/>
            <a:ext cx="2834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7201C"/>
                </a:solidFill>
                <a:latin typeface="Trebuchet MS"/>
              </a:rPr>
              <a:t>ПЛОТНИКОВА Наталья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10899648" y="2093976"/>
            <a:ext cx="365760" cy="365760"/>
          </a:xfrm>
          <a:prstGeom prst="star5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560320"/>
            <a:ext cx="33375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8736D"/>
                </a:solidFill>
                <a:latin typeface="Calibri"/>
              </a:rPr>
              <a:t>Ж 3.6 км · Лыжероллерный круг 1.2 км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017520"/>
            <a:ext cx="1531619" cy="868680"/>
          </a:xfrm>
          <a:prstGeom prst="roundRect">
            <a:avLst>
              <a:gd name="adj" fmla="val 10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136391"/>
            <a:ext cx="11658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8736D"/>
                </a:solidFill>
                <a:latin typeface="Calibri"/>
              </a:rPr>
              <a:t>Место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401568"/>
            <a:ext cx="11658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7201C"/>
                </a:solidFill>
                <a:latin typeface="Trebuchet M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61219" y="3017520"/>
            <a:ext cx="1531619" cy="868680"/>
          </a:xfrm>
          <a:prstGeom prst="roundRect">
            <a:avLst>
              <a:gd name="adj" fmla="val 10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4099" y="3136391"/>
            <a:ext cx="11658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8736D"/>
                </a:solidFill>
                <a:latin typeface="Calibri"/>
              </a:rPr>
              <a:t>Финиш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4099" y="3401568"/>
            <a:ext cx="11658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7201C"/>
                </a:solidFill>
                <a:latin typeface="Trebuchet MS"/>
              </a:rPr>
              <a:t>9:24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142231"/>
            <a:ext cx="1531619" cy="868680"/>
          </a:xfrm>
          <a:prstGeom prst="roundRect">
            <a:avLst>
              <a:gd name="adj" fmla="val 10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4261103"/>
            <a:ext cx="11658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8736D"/>
                </a:solidFill>
                <a:latin typeface="Calibri"/>
              </a:rPr>
              <a:t>Лучший круг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4526279"/>
            <a:ext cx="11658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7201C"/>
                </a:solidFill>
                <a:latin typeface="Trebuchet MS"/>
              </a:rPr>
              <a:t>3:07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1219" y="4142231"/>
            <a:ext cx="1531619" cy="868680"/>
          </a:xfrm>
          <a:prstGeom prst="roundRect">
            <a:avLst>
              <a:gd name="adj" fmla="val 10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4099" y="4261103"/>
            <a:ext cx="11658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8736D"/>
                </a:solidFill>
                <a:latin typeface="Calibri"/>
              </a:rPr>
              <a:t>Разброс кругов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099" y="4526279"/>
            <a:ext cx="11658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7201C"/>
                </a:solidFill>
                <a:latin typeface="Trebuchet MS"/>
              </a:rPr>
              <a:t>0:03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5166360"/>
            <a:ext cx="3337559" cy="566928"/>
          </a:xfrm>
          <a:prstGeom prst="roundRect">
            <a:avLst>
              <a:gd name="adj" fmla="val 12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5166360"/>
            <a:ext cx="30632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0B5751"/>
                </a:solidFill>
                <a:latin typeface="Calibri"/>
              </a:rPr>
              <a:t>Финишировала в темпе первого круга. Круги прошла очень ровно.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9496"/>
            <a:ext cx="1828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7201C"/>
                </a:solidFill>
                <a:latin typeface="Trebuchet MS"/>
              </a:rPr>
              <a:t>Сравнивайте: суммарно и по кругам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6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8736D"/>
                </a:solidFill>
                <a:latin typeface="Calibri"/>
              </a:rPr>
              <a:t>Отметьте участников звёздочкой — останутся только они. Видно и общий отрыв, и каждый круг отдельно.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40096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28800"/>
            <a:ext cx="4718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Trebuchet MS"/>
              </a:rPr>
              <a:t>Суммарное время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57984"/>
            <a:ext cx="4718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4D47"/>
                </a:solidFill>
                <a:latin typeface="Calibri"/>
              </a:rPr>
              <a:t>Растущий отрыв — насколько и где оторвался лидер.</a:t>
            </a:r>
          </a:p>
        </p:txBody>
      </p:sp>
      <p:pic>
        <p:nvPicPr>
          <p:cNvPr id="9" name="Picture 8" descr="compare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90" y="2560320"/>
            <a:ext cx="3755571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81928" y="1645920"/>
            <a:ext cx="5340096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1828800"/>
            <a:ext cx="4718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  <a:latin typeface="Trebuchet MS"/>
              </a:rPr>
              <a:t>Круги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824" y="2157984"/>
            <a:ext cx="4718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34D47"/>
                </a:solidFill>
                <a:latin typeface="Calibri"/>
              </a:rPr>
              <a:t>Темп по кругам — кто держал ровно, кто встал, кто ускорился.</a:t>
            </a:r>
          </a:p>
        </p:txBody>
      </p:sp>
      <p:pic>
        <p:nvPicPr>
          <p:cNvPr id="13" name="Picture 12" descr="compare_l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190" y="2560320"/>
            <a:ext cx="3755571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48843" y="50292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163" y="5358384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347" y="520293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7201C"/>
                </a:solidFill>
                <a:latin typeface="Trebuchet MS"/>
              </a:rPr>
              <a:t>#47 Королёв 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347" y="551383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8736D"/>
                </a:solidFill>
                <a:latin typeface="Calibri"/>
              </a:rPr>
              <a:t>лидер, ровный темп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907" y="50292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4227" y="5358384"/>
            <a:ext cx="201168" cy="201168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3411" y="520293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7201C"/>
                </a:solidFill>
                <a:latin typeface="Trebuchet MS"/>
              </a:rPr>
              <a:t>#26 Чупров 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3411" y="551383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8736D"/>
                </a:solidFill>
                <a:latin typeface="Calibri"/>
              </a:rPr>
              <a:t>просел в середине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0971" y="50292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5291" y="5358384"/>
            <a:ext cx="201168" cy="201168"/>
          </a:xfrm>
          <a:prstGeom prst="ellipse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4475" y="520293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7201C"/>
                </a:solidFill>
                <a:latin typeface="Trebuchet MS"/>
              </a:rPr>
              <a:t>#49 Вотолевский 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4475" y="551383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8736D"/>
                </a:solidFill>
                <a:latin typeface="Calibri"/>
              </a:rPr>
              <a:t>слабел к финишу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39496"/>
            <a:ext cx="18288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7201C"/>
                </a:solidFill>
                <a:latin typeface="Trebuchet MS"/>
              </a:rPr>
              <a:t>Что нужно от вас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42416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8736D"/>
                </a:solidFill>
                <a:latin typeface="Calibri"/>
              </a:rPr>
              <a:t>Три простых шага — без разработчика и без новых программ.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999" y="196596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2719" y="228600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2719" y="22860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759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7201C"/>
                </a:solidFill>
                <a:latin typeface="Trebuchet MS"/>
              </a:rPr>
              <a:t>Ведёте таблицу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759" y="4041648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4B554F"/>
                </a:solidFill>
                <a:latin typeface="Calibri"/>
              </a:rPr>
              <a:t>Заполняете результаты в Google Таблице — так же, как привыкли.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855" y="2743200"/>
            <a:ext cx="502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D69E2E"/>
                </a:solidFill>
                <a:latin typeface="Trebuchet M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207" y="196596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2927" y="228600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2927" y="22860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9967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7201C"/>
                </a:solidFill>
                <a:latin typeface="Trebuchet MS"/>
              </a:rPr>
              <a:t>Публикуете ссылку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9967" y="4041648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4B554F"/>
                </a:solidFill>
                <a:latin typeface="Calibri"/>
              </a:rPr>
              <a:t>Один раз включаете публикацию таблицы как ссылки. Дальше она работает всегда.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4063" y="2743200"/>
            <a:ext cx="502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D69E2E"/>
                </a:solidFill>
                <a:latin typeface="Trebuchet M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4415" y="196596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C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43135" y="2286000"/>
            <a:ext cx="1005840" cy="10058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3135" y="22860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75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7201C"/>
                </a:solidFill>
                <a:latin typeface="Trebuchet MS"/>
              </a:rPr>
              <a:t>Открываете дашборд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0175" y="4041648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4B554F"/>
                </a:solidFill>
                <a:latin typeface="Calibri"/>
              </a:rPr>
              <a:t>Вставляете ссылку в Racelytics — и делитесь готовым дашбордом с участниками.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" y="5486400"/>
            <a:ext cx="11283696" cy="868680"/>
          </a:xfrm>
          <a:prstGeom prst="roundRect">
            <a:avLst>
              <a:gd name="adj" fmla="val 8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99" y="5486400"/>
            <a:ext cx="1036929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 i="0">
                <a:solidFill>
                  <a:srgbClr val="3C463F"/>
                </a:solidFill>
                <a:latin typeface="Calibri"/>
              </a:rPr>
              <a:t>Обновили таблицу — </a:t>
            </a:r>
            <a:r>
              <a:rPr sz="1500" b="1" i="0">
                <a:solidFill>
                  <a:srgbClr val="0B5751"/>
                </a:solidFill>
                <a:latin typeface="Trebuchet MS"/>
              </a:rPr>
              <a:t>перезагрузите дашборд</a:t>
            </a:r>
            <a:r>
              <a:rPr sz="1500" b="0" i="0">
                <a:solidFill>
                  <a:srgbClr val="3C463F"/>
                </a:solidFill>
                <a:latin typeface="Calibri"/>
              </a:rPr>
              <a:t>, и он покажет свежие данные.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55448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52728" y="1554480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36776" y="1554480"/>
            <a:ext cx="164592" cy="164592"/>
          </a:xfrm>
          <a:prstGeom prst="ellipse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20824" y="1554480"/>
            <a:ext cx="164592" cy="164592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Дашборд уже опубликован.</a:t>
            </a:r>
          </a:p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Вставляете ссылку — и пользуетесь.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CC"/>
                </a:solidFill>
                <a:latin typeface="Calibri"/>
              </a:rPr>
              <a:t>Заходите на страницу, добавляете публичную ссылку на свою Google Таблицу — </a:t>
            </a:r>
            <a:r>
              <a:rPr sz="1800" b="1" i="0">
                <a:solidFill>
                  <a:srgbClr val="2A9D8F"/>
                </a:solidFill>
                <a:latin typeface="Calibri"/>
              </a:rPr>
              <a:t>и всё работает. Никого просить не нужно.</a:t>
            </a:r>
          </a:p>
        </p:txBody>
      </p:sp>
      <p:pic>
        <p:nvPicPr>
          <p:cNvPr id="9" name="Picture 8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40680"/>
            <a:ext cx="107291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559552"/>
            <a:ext cx="8229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Racelytics</a:t>
            </a:r>
            <a:r>
              <a:rPr sz="1400" b="0" i="0">
                <a:solidFill>
                  <a:srgbClr val="8C968F"/>
                </a:solidFill>
                <a:latin typeface="Calibri"/>
              </a:rPr>
              <a:t>   ·   просто и надёжно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