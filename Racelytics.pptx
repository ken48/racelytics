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" y="4498848"/>
            <a:ext cx="164592" cy="164592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52728" y="4498848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36776" y="4498848"/>
            <a:ext cx="164592" cy="164592"/>
          </a:xfrm>
          <a:prstGeom prst="ellipse">
            <a:avLst/>
          </a:prstGeom>
          <a:solidFill>
            <a:srgbClr val="D69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20824" y="4498848"/>
            <a:ext cx="164592" cy="164592"/>
          </a:xfrm>
          <a:prstGeom prst="ellipse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968703"/>
            <a:ext cx="2011680" cy="1628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697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  <a:latin typeface="Trebuchet MS"/>
              </a:rPr>
              <a:t>Racelytics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6732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2A9D8F"/>
                </a:solidFill>
                <a:latin typeface="Trebuchet MS"/>
              </a:rPr>
              <a:t>Аналитика гонок по кругам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7D2CC"/>
                </a:solidFill>
                <a:latin typeface="Calibri"/>
              </a:rPr>
              <a:t>Простой и надёжный дашборд: вставил ссылку на Google Таблицу — и готово.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7E8A84"/>
                </a:solidFill>
                <a:latin typeface="Calibri"/>
              </a:rPr>
              <a:t>Для команды организаторов · июнь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39496"/>
            <a:ext cx="182880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 i="0">
                <a:solidFill>
                  <a:srgbClr val="17201C"/>
                </a:solidFill>
                <a:latin typeface="Trebuchet MS"/>
              </a:rPr>
              <a:t>Финишный протокол не рассказывает всю гонку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42416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68736D"/>
                </a:solidFill>
                <a:latin typeface="Calibri"/>
              </a:rPr>
              <a:t>В таблице есть только итог. А самое интересное — как этот итог сложился по кругам.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3999" y="1783080"/>
            <a:ext cx="3456432" cy="370332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1270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8047" y="2194560"/>
            <a:ext cx="841248" cy="84124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3337560"/>
            <a:ext cx="26883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7201C"/>
                </a:solidFill>
                <a:latin typeface="Trebuchet MS"/>
              </a:rPr>
              <a:t>Где терялись секунды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4069080"/>
            <a:ext cx="26883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4B554F"/>
                </a:solidFill>
                <a:latin typeface="Calibri"/>
              </a:rPr>
              <a:t>Итог не показывает, на каком круге участник просел или, наоборот, разогнался.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7631" y="1783080"/>
            <a:ext cx="3456432" cy="370332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1270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51679" y="2194560"/>
            <a:ext cx="841248" cy="84124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1679" y="2194560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1679" y="3337560"/>
            <a:ext cx="26883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7201C"/>
                </a:solidFill>
                <a:latin typeface="Trebuchet MS"/>
              </a:rPr>
              <a:t>Как разложили силы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1679" y="4069080"/>
            <a:ext cx="26883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4B554F"/>
                </a:solidFill>
                <a:latin typeface="Calibri"/>
              </a:rPr>
              <a:t>Ровный темп, ускорение к финишу или провал в середине — по протоколу не видно.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81263" y="1783080"/>
            <a:ext cx="3456432" cy="370332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1270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65311" y="2194560"/>
            <a:ext cx="841248" cy="84124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5311" y="2194560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5311" y="3337560"/>
            <a:ext cx="26883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7201C"/>
                </a:solidFill>
                <a:latin typeface="Trebuchet MS"/>
              </a:rPr>
              <a:t>Как менялась борьба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5311" y="4069080"/>
            <a:ext cx="26883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4B554F"/>
                </a:solidFill>
                <a:latin typeface="Calibri"/>
              </a:rPr>
              <a:t>Отрыв от лидера и позиция в зачёте по ходу дистанции остаются за кадром.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39496"/>
            <a:ext cx="182880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 i="0">
                <a:solidFill>
                  <a:srgbClr val="17201C"/>
                </a:solidFill>
                <a:latin typeface="Trebuchet MS"/>
              </a:rPr>
              <a:t>Одна ссылка — и дашборд готов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42416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68736D"/>
                </a:solidFill>
                <a:latin typeface="Calibri"/>
              </a:rPr>
              <a:t>Страница уже работает в интернете. Вы вставляете адрес своей Google Таблицы — и всё строится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1874519"/>
            <a:ext cx="3977639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19" y="2167127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7201C"/>
                </a:solidFill>
                <a:latin typeface="Trebuchet MS"/>
              </a:rPr>
              <a:t>Google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2642615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8736D"/>
                </a:solidFill>
                <a:latin typeface="Calibri"/>
              </a:rPr>
              <a:t>ваш привычный протокол</a:t>
            </a:r>
          </a:p>
        </p:txBody>
      </p:sp>
      <p:sp>
        <p:nvSpPr>
          <p:cNvPr id="9" name="Rectangle 8"/>
          <p:cNvSpPr/>
          <p:nvPr/>
        </p:nvSpPr>
        <p:spPr>
          <a:xfrm>
            <a:off x="1417319" y="3108960"/>
            <a:ext cx="3246120" cy="3108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17319" y="3438144"/>
            <a:ext cx="3246120" cy="228600"/>
          </a:xfrm>
          <a:prstGeom prst="rect">
            <a:avLst/>
          </a:prstGeom>
          <a:solidFill>
            <a:srgbClr val="EEF3F0"/>
          </a:solidFill>
          <a:ln w="9525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17319" y="3685031"/>
            <a:ext cx="324612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17319" y="3931920"/>
            <a:ext cx="3246120" cy="228600"/>
          </a:xfrm>
          <a:prstGeom prst="rect">
            <a:avLst/>
          </a:prstGeom>
          <a:solidFill>
            <a:srgbClr val="EEF3F0"/>
          </a:solidFill>
          <a:ln w="9525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59752" y="1874519"/>
            <a:ext cx="3977639" cy="2331720"/>
          </a:xfrm>
          <a:prstGeom prst="roundRect">
            <a:avLst>
              <a:gd name="adj" fmla="val 5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167127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Trebuchet MS"/>
              </a:rPr>
              <a:t>Racelytics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642615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EFE9"/>
                </a:solidFill>
                <a:latin typeface="Calibri"/>
              </a:rPr>
              <a:t>готовый дашборд в браузере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25512" y="3063239"/>
            <a:ext cx="3246120" cy="9143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umulativeChart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879" y="3154679"/>
            <a:ext cx="963385" cy="7315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271516" y="2377439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68736D"/>
                </a:solidFill>
                <a:latin typeface="Calibri"/>
              </a:rPr>
              <a:t>ссылка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1516" y="2743200"/>
            <a:ext cx="16459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D69E2E"/>
                </a:solidFill>
                <a:latin typeface="Trebuchet M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3999" y="4617720"/>
            <a:ext cx="3456432" cy="603504"/>
          </a:xfrm>
          <a:prstGeom prst="roundRect">
            <a:avLst>
              <a:gd name="adj" fmla="val 50000"/>
            </a:avLst>
          </a:prstGeom>
          <a:solidFill>
            <a:srgbClr val="EC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6607" y="4828032"/>
            <a:ext cx="182880" cy="18288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7503" y="4617720"/>
            <a:ext cx="2679191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B5751"/>
                </a:solidFill>
                <a:latin typeface="Calibri"/>
              </a:rPr>
              <a:t>Ничего не устанавливать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67631" y="4617720"/>
            <a:ext cx="3456432" cy="603504"/>
          </a:xfrm>
          <a:prstGeom prst="roundRect">
            <a:avLst>
              <a:gd name="adj" fmla="val 50000"/>
            </a:avLst>
          </a:prstGeom>
          <a:solidFill>
            <a:srgbClr val="EC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60239" y="4828032"/>
            <a:ext cx="182880" cy="18288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1135" y="4617720"/>
            <a:ext cx="2679191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B5751"/>
                </a:solidFill>
                <a:latin typeface="Calibri"/>
              </a:rPr>
              <a:t>Без аккаунтов и паролей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81263" y="4617720"/>
            <a:ext cx="3456432" cy="603504"/>
          </a:xfrm>
          <a:prstGeom prst="roundRect">
            <a:avLst>
              <a:gd name="adj" fmla="val 50000"/>
            </a:avLst>
          </a:prstGeom>
          <a:solidFill>
            <a:srgbClr val="EC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3871" y="4828032"/>
            <a:ext cx="182880" cy="18288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84767" y="4617720"/>
            <a:ext cx="2679191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B5751"/>
                </a:solidFill>
                <a:latin typeface="Calibri"/>
              </a:rPr>
              <a:t>Данные остаются в вашей таблице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532120"/>
            <a:ext cx="10881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7201C"/>
                </a:solidFill>
                <a:latin typeface="Calibri"/>
              </a:rPr>
              <a:t>Нет сервера и базы — нечему ломаться. </a:t>
            </a:r>
            <a:r>
              <a:rPr sz="1500" b="0" i="0">
                <a:solidFill>
                  <a:srgbClr val="434D47"/>
                </a:solidFill>
                <a:latin typeface="Calibri"/>
              </a:rPr>
              <a:t>Правите таблицу — дашборд показывает свежие данные.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39496"/>
            <a:ext cx="182880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 i="0">
                <a:solidFill>
                  <a:srgbClr val="17201C"/>
                </a:solidFill>
                <a:latin typeface="Trebuchet MS"/>
              </a:rPr>
              <a:t>Всё на одном экране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42416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68736D"/>
                </a:solidFill>
                <a:latin typeface="Calibri"/>
              </a:rPr>
              <a:t>Таблица результатов, карточка участника и графики обновляются вместе по фильтрам.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676656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umulative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49502"/>
            <a:ext cx="6355080" cy="35819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541264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8736D"/>
                </a:solidFill>
                <a:latin typeface="Calibri"/>
              </a:rPr>
              <a:t>Суммарное время по кругам, топ-10 зачёта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783080"/>
            <a:ext cx="3977639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2057400"/>
            <a:ext cx="2834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7201C"/>
                </a:solidFill>
                <a:latin typeface="Trebuchet MS"/>
              </a:rPr>
              <a:t>ПЛОТНИКОВА Наталья</a:t>
            </a:r>
          </a:p>
        </p:txBody>
      </p:sp>
      <p:sp>
        <p:nvSpPr>
          <p:cNvPr id="11" name="5-Point Star 10"/>
          <p:cNvSpPr/>
          <p:nvPr/>
        </p:nvSpPr>
        <p:spPr>
          <a:xfrm>
            <a:off x="10899648" y="2093976"/>
            <a:ext cx="365760" cy="365760"/>
          </a:xfrm>
          <a:prstGeom prst="star5">
            <a:avLst/>
          </a:prstGeom>
          <a:solidFill>
            <a:srgbClr val="D69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2560320"/>
            <a:ext cx="33375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8736D"/>
                </a:solidFill>
                <a:latin typeface="Calibri"/>
              </a:rPr>
              <a:t>Женщины 3.6 км · Лыжероллерный круг 1.2 км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3017520"/>
            <a:ext cx="1531619" cy="868680"/>
          </a:xfrm>
          <a:prstGeom prst="roundRect">
            <a:avLst>
              <a:gd name="adj" fmla="val 10000"/>
            </a:avLst>
          </a:prstGeom>
          <a:solidFill>
            <a:srgbClr val="EE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3136391"/>
            <a:ext cx="11658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68736D"/>
                </a:solidFill>
                <a:latin typeface="Calibri"/>
              </a:rPr>
              <a:t>Место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401568"/>
            <a:ext cx="11658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7201C"/>
                </a:solidFill>
                <a:latin typeface="Trebuchet MS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61219" y="3017520"/>
            <a:ext cx="1531619" cy="868680"/>
          </a:xfrm>
          <a:prstGeom prst="roundRect">
            <a:avLst>
              <a:gd name="adj" fmla="val 10000"/>
            </a:avLst>
          </a:prstGeom>
          <a:solidFill>
            <a:srgbClr val="EE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44099" y="3136391"/>
            <a:ext cx="11658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68736D"/>
                </a:solidFill>
                <a:latin typeface="Calibri"/>
              </a:rPr>
              <a:t>Финиш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4099" y="3401568"/>
            <a:ext cx="11658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7201C"/>
                </a:solidFill>
                <a:latin typeface="Trebuchet MS"/>
              </a:rPr>
              <a:t>9:24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4142231"/>
            <a:ext cx="1531619" cy="868680"/>
          </a:xfrm>
          <a:prstGeom prst="roundRect">
            <a:avLst>
              <a:gd name="adj" fmla="val 10000"/>
            </a:avLst>
          </a:prstGeom>
          <a:solidFill>
            <a:srgbClr val="EE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59" y="4261103"/>
            <a:ext cx="11658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68736D"/>
                </a:solidFill>
                <a:latin typeface="Calibri"/>
              </a:rPr>
              <a:t>Лучший круг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4526279"/>
            <a:ext cx="11658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7201C"/>
                </a:solidFill>
                <a:latin typeface="Trebuchet MS"/>
              </a:rPr>
              <a:t>3:07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61219" y="4142231"/>
            <a:ext cx="1531619" cy="868680"/>
          </a:xfrm>
          <a:prstGeom prst="roundRect">
            <a:avLst>
              <a:gd name="adj" fmla="val 10000"/>
            </a:avLst>
          </a:prstGeom>
          <a:solidFill>
            <a:srgbClr val="EE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4099" y="4261103"/>
            <a:ext cx="11658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68736D"/>
                </a:solidFill>
                <a:latin typeface="Calibri"/>
              </a:rPr>
              <a:t>Разброс кругов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4099" y="4526279"/>
            <a:ext cx="11658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7201C"/>
                </a:solidFill>
                <a:latin typeface="Trebuchet MS"/>
              </a:rPr>
              <a:t>0:03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5166360"/>
            <a:ext cx="3337559" cy="566928"/>
          </a:xfrm>
          <a:prstGeom prst="roundRect">
            <a:avLst>
              <a:gd name="adj" fmla="val 12000"/>
            </a:avLst>
          </a:prstGeom>
          <a:solidFill>
            <a:srgbClr val="EC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5166360"/>
            <a:ext cx="306323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0B5751"/>
                </a:solidFill>
                <a:latin typeface="Calibri"/>
              </a:rPr>
              <a:t>Финишировала в темпе первого круга. Круги прошла очень ровно.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39496"/>
            <a:ext cx="182880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 i="0">
                <a:solidFill>
                  <a:srgbClr val="17201C"/>
                </a:solidFill>
                <a:latin typeface="Trebuchet MS"/>
              </a:rPr>
              <a:t>Сравнивайте, кого нужно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42416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68736D"/>
                </a:solidFill>
                <a:latin typeface="Calibri"/>
              </a:rPr>
              <a:t>Отметьте участников звёздочкой — на графике останутся только они, а рядом появится таблица разницы по кругам.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10512"/>
            <a:ext cx="580644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993392"/>
            <a:ext cx="5257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7201C"/>
                </a:solidFill>
                <a:latin typeface="Trebuchet MS"/>
              </a:rPr>
              <a:t>На графике — только отмеченные</a:t>
            </a:r>
          </a:p>
        </p:txBody>
      </p:sp>
      <p:pic>
        <p:nvPicPr>
          <p:cNvPr id="8" name="Picture 7" descr="compar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762" y="2377440"/>
            <a:ext cx="4212771" cy="23591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37960" y="1810512"/>
            <a:ext cx="5084064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0568" y="1993392"/>
            <a:ext cx="44988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7201C"/>
                </a:solidFill>
                <a:latin typeface="Trebuchet MS"/>
              </a:rPr>
              <a:t>Разница по кругам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8736D"/>
                </a:solidFill>
                <a:latin typeface="Calibri"/>
              </a:rPr>
              <a:t>нарастающий отрыв к лидеру выбранных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12280" y="2770632"/>
          <a:ext cx="4535424" cy="18745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473964"/>
                <a:gridCol w="473964"/>
                <a:gridCol w="473964"/>
                <a:gridCol w="473964"/>
                <a:gridCol w="473964"/>
                <a:gridCol w="473964"/>
              </a:tblGrid>
              <a:tr h="46862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Участник</a:t>
                      </a:r>
                    </a:p>
                  </a:txBody>
                  <a:tcPr marL="50800" marR="50800" marT="25400" marB="25400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0800" marR="50800" marT="25400" marB="25400" anchor="ctr">
                    <a:solidFill>
                      <a:srgbClr val="0F766E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7201C"/>
                          </a:solidFill>
                          <a:latin typeface="Calibri"/>
                        </a:rPr>
                        <a:t>#47 Королёв Н.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8736D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8736D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8736D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8736D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8736D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8736D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7201C"/>
                          </a:solidFill>
                          <a:latin typeface="Calibri"/>
                        </a:rPr>
                        <a:t>#26 Чупров А.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3261E"/>
                          </a:solidFill>
                          <a:latin typeface="Calibri"/>
                        </a:rPr>
                        <a:t>+0:24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3261E"/>
                          </a:solidFill>
                          <a:latin typeface="Calibri"/>
                        </a:rPr>
                        <a:t>+1:01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3261E"/>
                          </a:solidFill>
                          <a:latin typeface="Calibri"/>
                        </a:rPr>
                        <a:t>+1:43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3261E"/>
                          </a:solidFill>
                          <a:latin typeface="Calibri"/>
                        </a:rPr>
                        <a:t>+2:30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3261E"/>
                          </a:solidFill>
                          <a:latin typeface="Calibri"/>
                        </a:rPr>
                        <a:t>+3:02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3261E"/>
                          </a:solidFill>
                          <a:latin typeface="Calibri"/>
                        </a:rPr>
                        <a:t>+3:32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68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7201C"/>
                          </a:solidFill>
                          <a:latin typeface="Calibri"/>
                        </a:rPr>
                        <a:t>#49 Вотолевский А.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3261E"/>
                          </a:solidFill>
                          <a:latin typeface="Calibri"/>
                        </a:rPr>
                        <a:t>+1:58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3261E"/>
                          </a:solidFill>
                          <a:latin typeface="Calibri"/>
                        </a:rPr>
                        <a:t>+3:58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3261E"/>
                          </a:solidFill>
                          <a:latin typeface="Calibri"/>
                        </a:rPr>
                        <a:t>+6:01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3261E"/>
                          </a:solidFill>
                          <a:latin typeface="Calibri"/>
                        </a:rPr>
                        <a:t>+8:25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3261E"/>
                          </a:solidFill>
                          <a:latin typeface="Calibri"/>
                        </a:rPr>
                        <a:t>+10:54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3261E"/>
                          </a:solidFill>
                          <a:latin typeface="Calibri"/>
                        </a:rPr>
                        <a:t>+13:31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348843" y="5193792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1270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3163" y="5522976"/>
            <a:ext cx="201168" cy="20116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3203" y="5340096"/>
            <a:ext cx="283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7201C"/>
                </a:solidFill>
                <a:latin typeface="Trebuchet MS"/>
              </a:rPr>
              <a:t>Суммарное время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203" y="565099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8736D"/>
                </a:solidFill>
                <a:latin typeface="Calibri"/>
              </a:rPr>
              <a:t>нарастающий отрыв по кругам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9907" y="5193792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1270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64227" y="5522976"/>
            <a:ext cx="201168" cy="20116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84267" y="5340096"/>
            <a:ext cx="283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7201C"/>
                </a:solidFill>
                <a:latin typeface="Trebuchet MS"/>
              </a:rPr>
              <a:t>Круги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4267" y="565099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8736D"/>
                </a:solidFill>
                <a:latin typeface="Calibri"/>
              </a:rPr>
              <a:t>длительность каждого круга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30971" y="5193792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1270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05291" y="5522976"/>
            <a:ext cx="201168" cy="20116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5331" y="5340096"/>
            <a:ext cx="283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7201C"/>
                </a:solidFill>
                <a:latin typeface="Trebuchet MS"/>
              </a:rPr>
              <a:t>Позиция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5331" y="565099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8736D"/>
                </a:solidFill>
                <a:latin typeface="Calibri"/>
              </a:rPr>
              <a:t>как менялось место в зачёте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39496"/>
            <a:ext cx="182880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 i="0">
                <a:solidFill>
                  <a:srgbClr val="17201C"/>
                </a:solidFill>
                <a:latin typeface="Trebuchet MS"/>
              </a:rPr>
              <a:t>Что нужно от вас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42416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68736D"/>
                </a:solidFill>
                <a:latin typeface="Calibri"/>
              </a:rPr>
              <a:t>Три простых шага — без разработчика и без новых программ.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3999" y="1965960"/>
            <a:ext cx="338328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42719" y="2286000"/>
            <a:ext cx="1005840" cy="100584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2719" y="228600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759" y="35204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7201C"/>
                </a:solidFill>
                <a:latin typeface="Trebuchet MS"/>
              </a:rPr>
              <a:t>Ведёте таблицу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759" y="4041648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4B554F"/>
                </a:solidFill>
                <a:latin typeface="Calibri"/>
              </a:rPr>
              <a:t>Заполняете результаты в Google Таблице — так же, как привыкли.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73855" y="2743200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D69E2E"/>
                </a:solidFill>
                <a:latin typeface="Trebuchet M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4207" y="1965960"/>
            <a:ext cx="338328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92927" y="2286000"/>
            <a:ext cx="1005840" cy="100584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92927" y="228600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9967" y="35204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7201C"/>
                </a:solidFill>
                <a:latin typeface="Trebuchet MS"/>
              </a:rPr>
              <a:t>Публикуете ссылку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9967" y="4041648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4B554F"/>
                </a:solidFill>
                <a:latin typeface="Calibri"/>
              </a:rPr>
              <a:t>Один раз включаете публикацию таблицы как ссылки. Дальше она работает всегда.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24063" y="2743200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D69E2E"/>
                </a:solidFill>
                <a:latin typeface="Trebuchet M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4415" y="1965960"/>
            <a:ext cx="338328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543135" y="2286000"/>
            <a:ext cx="1005840" cy="100584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43135" y="228600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75" y="35204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7201C"/>
                </a:solidFill>
                <a:latin typeface="Trebuchet MS"/>
              </a:rPr>
              <a:t>Открываете дашборд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0175" y="4041648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4B554F"/>
                </a:solidFill>
                <a:latin typeface="Calibri"/>
              </a:rPr>
              <a:t>Вставляете ссылку в Racelytics — и делитесь готовым дашбордом с участниками.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3999" y="5486400"/>
            <a:ext cx="11283696" cy="868680"/>
          </a:xfrm>
          <a:prstGeom prst="roundRect">
            <a:avLst>
              <a:gd name="adj" fmla="val 8000"/>
            </a:avLst>
          </a:prstGeom>
          <a:solidFill>
            <a:srgbClr val="EC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199" y="5486400"/>
            <a:ext cx="1036929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 i="0">
                <a:solidFill>
                  <a:srgbClr val="3C463F"/>
                </a:solidFill>
                <a:latin typeface="Calibri"/>
              </a:rPr>
              <a:t>По ходу гонки </a:t>
            </a:r>
            <a:r>
              <a:rPr sz="1500" b="1" i="0">
                <a:solidFill>
                  <a:srgbClr val="0B5751"/>
                </a:solidFill>
                <a:latin typeface="Trebuchet MS"/>
              </a:rPr>
              <a:t>дописываете круги прямо в таблицу</a:t>
            </a:r>
            <a:r>
              <a:rPr sz="1500" b="0" i="0">
                <a:solidFill>
                  <a:srgbClr val="3C463F"/>
                </a:solidFill>
                <a:latin typeface="Calibri"/>
              </a:rPr>
              <a:t> — дашборд обновляется сам.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" y="1554480"/>
            <a:ext cx="164592" cy="164592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52728" y="1554480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36776" y="1554480"/>
            <a:ext cx="164592" cy="164592"/>
          </a:xfrm>
          <a:prstGeom prst="ellipse">
            <a:avLst/>
          </a:prstGeom>
          <a:solidFill>
            <a:srgbClr val="D69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20824" y="1554480"/>
            <a:ext cx="164592" cy="164592"/>
          </a:xfrm>
          <a:prstGeom prst="ellipse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789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000" b="1" i="0">
                <a:solidFill>
                  <a:srgbClr val="FFFFFF"/>
                </a:solidFill>
                <a:latin typeface="Trebuchet MS"/>
              </a:rPr>
              <a:t>Дашборд уже опубликован.</a:t>
            </a:r>
          </a:p>
          <a:p>
            <a:pPr algn="l">
              <a:lnSpc>
                <a:spcPct val="104000"/>
              </a:lnSpc>
            </a:pPr>
            <a:r>
              <a:rPr sz="4000" b="1" i="0">
                <a:solidFill>
                  <a:srgbClr val="FFFFFF"/>
                </a:solidFill>
                <a:latin typeface="Trebuchet MS"/>
              </a:rPr>
              <a:t>Вставляете ссылку — и пользуетесь.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7D2CC"/>
                </a:solidFill>
                <a:latin typeface="Calibri"/>
              </a:rPr>
              <a:t>Заходите на страницу, добавляете публичную ссылку на свою Google Таблицу — </a:t>
            </a:r>
            <a:r>
              <a:rPr sz="1800" b="1" i="0">
                <a:solidFill>
                  <a:srgbClr val="2A9D8F"/>
                </a:solidFill>
                <a:latin typeface="Calibri"/>
              </a:rPr>
              <a:t>и всё работает. Никого просить не нужно.</a:t>
            </a:r>
          </a:p>
        </p:txBody>
      </p:sp>
      <p:pic>
        <p:nvPicPr>
          <p:cNvPr id="9" name="Picture 8" descr="logo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440680"/>
            <a:ext cx="107291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57400" y="5559552"/>
            <a:ext cx="8229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Trebuchet MS"/>
              </a:rPr>
              <a:t>Racelytics</a:t>
            </a:r>
            <a:r>
              <a:rPr sz="1400" b="0" i="0">
                <a:solidFill>
                  <a:srgbClr val="8C968F"/>
                </a:solidFill>
                <a:latin typeface="Calibri"/>
              </a:rPr>
              <a:t>   ·   просто и надёжно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