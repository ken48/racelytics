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2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68680" y="4498848"/>
            <a:ext cx="164592" cy="164592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252728" y="4498848"/>
            <a:ext cx="164592" cy="16459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36776" y="4498848"/>
            <a:ext cx="164592" cy="164592"/>
          </a:xfrm>
          <a:prstGeom prst="ellipse">
            <a:avLst/>
          </a:prstGeom>
          <a:solidFill>
            <a:srgbClr val="D69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020824" y="4498848"/>
            <a:ext cx="164592" cy="164592"/>
          </a:xfrm>
          <a:prstGeom prst="ellipse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968703"/>
            <a:ext cx="2011680" cy="16287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26974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0" b="1" i="0">
                <a:solidFill>
                  <a:srgbClr val="FFFFFF"/>
                </a:solidFill>
                <a:latin typeface="Trebuchet MS"/>
              </a:rPr>
              <a:t>Racelytics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767328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300" b="1" i="0">
                <a:solidFill>
                  <a:srgbClr val="2A9D8F"/>
                </a:solidFill>
                <a:latin typeface="Trebuchet MS"/>
              </a:rPr>
              <a:t>Аналитика гонок по кругам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89204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C7D2CC"/>
                </a:solidFill>
                <a:latin typeface="Calibri"/>
              </a:rPr>
              <a:t>Простой и надёжный дашборд: вставил ссылку на Google Таблицу — и готово.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61722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7E8A84"/>
                </a:solidFill>
                <a:latin typeface="Calibri"/>
              </a:rPr>
              <a:t>Для команды организаторов · июнь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539496"/>
            <a:ext cx="182880" cy="38404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475488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 i="0">
                <a:solidFill>
                  <a:srgbClr val="17201C"/>
                </a:solidFill>
                <a:latin typeface="Trebuchet MS"/>
              </a:rPr>
              <a:t>Финишный протокол не рассказывает всю гонку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42416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68736D"/>
                </a:solidFill>
                <a:latin typeface="Calibri"/>
              </a:rPr>
              <a:t>В таблице есть только итог. А самое интересное — как этот итог сложился по кругам.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3999" y="1783080"/>
            <a:ext cx="3456432" cy="3703320"/>
          </a:xfrm>
          <a:prstGeom prst="roundRect">
            <a:avLst>
              <a:gd name="adj" fmla="val 5000"/>
            </a:avLst>
          </a:prstGeom>
          <a:solidFill>
            <a:srgbClr val="F4F7F5"/>
          </a:solidFill>
          <a:ln w="12700">
            <a:solidFill>
              <a:srgbClr val="DC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38047" y="2194560"/>
            <a:ext cx="841248" cy="841248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047" y="2194560"/>
            <a:ext cx="841248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Trebuchet M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3337560"/>
            <a:ext cx="268833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7201C"/>
                </a:solidFill>
                <a:latin typeface="Trebuchet MS"/>
              </a:rPr>
              <a:t>Где терялись секунды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047" y="4069080"/>
            <a:ext cx="2688336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50" b="0" i="0">
                <a:solidFill>
                  <a:srgbClr val="4B554F"/>
                </a:solidFill>
                <a:latin typeface="Calibri"/>
              </a:rPr>
              <a:t>Итог не показывает, на каком круге участник просел или, наоборот, разогнался.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67631" y="1783080"/>
            <a:ext cx="3456432" cy="3703320"/>
          </a:xfrm>
          <a:prstGeom prst="roundRect">
            <a:avLst>
              <a:gd name="adj" fmla="val 5000"/>
            </a:avLst>
          </a:prstGeom>
          <a:solidFill>
            <a:srgbClr val="F4F7F5"/>
          </a:solidFill>
          <a:ln w="12700">
            <a:solidFill>
              <a:srgbClr val="DC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751679" y="2194560"/>
            <a:ext cx="841248" cy="841248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1679" y="2194560"/>
            <a:ext cx="841248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Trebuchet M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1679" y="3337560"/>
            <a:ext cx="268833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7201C"/>
                </a:solidFill>
                <a:latin typeface="Trebuchet MS"/>
              </a:rPr>
              <a:t>Как разложили силы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1679" y="4069080"/>
            <a:ext cx="2688336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50" b="0" i="0">
                <a:solidFill>
                  <a:srgbClr val="4B554F"/>
                </a:solidFill>
                <a:latin typeface="Calibri"/>
              </a:rPr>
              <a:t>Ровный темп, ускорение к финишу или провал в середине — по протоколу не видно.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81263" y="1783080"/>
            <a:ext cx="3456432" cy="3703320"/>
          </a:xfrm>
          <a:prstGeom prst="roundRect">
            <a:avLst>
              <a:gd name="adj" fmla="val 5000"/>
            </a:avLst>
          </a:prstGeom>
          <a:solidFill>
            <a:srgbClr val="F4F7F5"/>
          </a:solidFill>
          <a:ln w="12700">
            <a:solidFill>
              <a:srgbClr val="DC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65311" y="2194560"/>
            <a:ext cx="841248" cy="841248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5311" y="2194560"/>
            <a:ext cx="841248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Trebuchet M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5311" y="3337560"/>
            <a:ext cx="268833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7201C"/>
                </a:solidFill>
                <a:latin typeface="Trebuchet MS"/>
              </a:rPr>
              <a:t>Как менялась борьба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65311" y="4069080"/>
            <a:ext cx="2688336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50" b="0" i="0">
                <a:solidFill>
                  <a:srgbClr val="4B554F"/>
                </a:solidFill>
                <a:latin typeface="Calibri"/>
              </a:rPr>
              <a:t>Отрыв от лидера и позиция в зачёте по ходу дистанции остаются за кадром.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539496"/>
            <a:ext cx="182880" cy="38404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475488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 i="0">
                <a:solidFill>
                  <a:srgbClr val="17201C"/>
                </a:solidFill>
                <a:latin typeface="Trebuchet MS"/>
              </a:rPr>
              <a:t>Одна ссылка — и дашборд готов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42416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68736D"/>
                </a:solidFill>
                <a:latin typeface="Calibri"/>
              </a:rPr>
              <a:t>Страница уже работает в интернете. Вы вставляете адрес своей Google Таблицы — и всё строится само.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51560" y="1874519"/>
            <a:ext cx="3977639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6510">
            <a:solidFill>
              <a:srgbClr val="DC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17319" y="2167127"/>
            <a:ext cx="3246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7201C"/>
                </a:solidFill>
                <a:latin typeface="Trebuchet MS"/>
              </a:rPr>
              <a:t>Google Таблица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19" y="2642615"/>
            <a:ext cx="3246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8736D"/>
                </a:solidFill>
                <a:latin typeface="Calibri"/>
              </a:rPr>
              <a:t>ваш привычный протокол</a:t>
            </a:r>
          </a:p>
        </p:txBody>
      </p:sp>
      <p:sp>
        <p:nvSpPr>
          <p:cNvPr id="9" name="Rectangle 8"/>
          <p:cNvSpPr/>
          <p:nvPr/>
        </p:nvSpPr>
        <p:spPr>
          <a:xfrm>
            <a:off x="1417319" y="3108960"/>
            <a:ext cx="3246120" cy="31089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417319" y="3438144"/>
            <a:ext cx="3246120" cy="228600"/>
          </a:xfrm>
          <a:prstGeom prst="rect">
            <a:avLst/>
          </a:prstGeom>
          <a:solidFill>
            <a:srgbClr val="EEF3F0"/>
          </a:solidFill>
          <a:ln w="9525">
            <a:solidFill>
              <a:srgbClr val="DC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417319" y="3685031"/>
            <a:ext cx="3246120" cy="2286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417319" y="3931920"/>
            <a:ext cx="3246120" cy="228600"/>
          </a:xfrm>
          <a:prstGeom prst="rect">
            <a:avLst/>
          </a:prstGeom>
          <a:solidFill>
            <a:srgbClr val="EEF3F0"/>
          </a:solidFill>
          <a:ln w="9525">
            <a:solidFill>
              <a:srgbClr val="DC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159752" y="1874519"/>
            <a:ext cx="3977639" cy="2331720"/>
          </a:xfrm>
          <a:prstGeom prst="roundRect">
            <a:avLst>
              <a:gd name="adj" fmla="val 5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25512" y="2167127"/>
            <a:ext cx="3246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Trebuchet MS"/>
              </a:rPr>
              <a:t>Racelytics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25512" y="2642615"/>
            <a:ext cx="3246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EFE9"/>
                </a:solidFill>
                <a:latin typeface="Calibri"/>
              </a:rPr>
              <a:t>готовый дашборд в браузере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25512" y="3063239"/>
            <a:ext cx="3246120" cy="91439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cumulativeChart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6879" y="3154679"/>
            <a:ext cx="963385" cy="73151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271516" y="2377439"/>
            <a:ext cx="1645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68736D"/>
                </a:solidFill>
                <a:latin typeface="Calibri"/>
              </a:rPr>
              <a:t>ссылка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71516" y="2743200"/>
            <a:ext cx="164592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 i="0">
                <a:solidFill>
                  <a:srgbClr val="D69E2E"/>
                </a:solidFill>
                <a:latin typeface="Trebuchet MS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3999" y="4617720"/>
            <a:ext cx="3456432" cy="603504"/>
          </a:xfrm>
          <a:prstGeom prst="roundRect">
            <a:avLst>
              <a:gd name="adj" fmla="val 50000"/>
            </a:avLst>
          </a:prstGeom>
          <a:solidFill>
            <a:srgbClr val="EC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46607" y="4828032"/>
            <a:ext cx="182880" cy="18288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7503" y="4617720"/>
            <a:ext cx="2679191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0B5751"/>
                </a:solidFill>
                <a:latin typeface="Calibri"/>
              </a:rPr>
              <a:t>Ничего не устанавливать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67631" y="4617720"/>
            <a:ext cx="3456432" cy="603504"/>
          </a:xfrm>
          <a:prstGeom prst="roundRect">
            <a:avLst>
              <a:gd name="adj" fmla="val 50000"/>
            </a:avLst>
          </a:prstGeom>
          <a:solidFill>
            <a:srgbClr val="EC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660239" y="4828032"/>
            <a:ext cx="182880" cy="18288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71135" y="4617720"/>
            <a:ext cx="2679191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0B5751"/>
                </a:solidFill>
                <a:latin typeface="Calibri"/>
              </a:rPr>
              <a:t>Без аккаунтов и паролей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81263" y="4617720"/>
            <a:ext cx="3456432" cy="603504"/>
          </a:xfrm>
          <a:prstGeom prst="roundRect">
            <a:avLst>
              <a:gd name="adj" fmla="val 50000"/>
            </a:avLst>
          </a:prstGeom>
          <a:solidFill>
            <a:srgbClr val="EC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573871" y="4828032"/>
            <a:ext cx="182880" cy="18288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84767" y="4617720"/>
            <a:ext cx="2679191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0B5751"/>
                </a:solidFill>
                <a:latin typeface="Calibri"/>
              </a:rPr>
              <a:t>Данные остаются в вашей таблице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" y="5532120"/>
            <a:ext cx="108813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7201C"/>
                </a:solidFill>
                <a:latin typeface="Calibri"/>
              </a:rPr>
              <a:t>Нет сервера и базы — нечему ломаться. </a:t>
            </a:r>
            <a:r>
              <a:rPr sz="1500" b="0" i="0">
                <a:solidFill>
                  <a:srgbClr val="434D47"/>
                </a:solidFill>
                <a:latin typeface="Calibri"/>
              </a:rPr>
              <a:t>Правите таблицу — дашборд показывает свежие данные.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539496"/>
            <a:ext cx="182880" cy="38404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475488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 i="0">
                <a:solidFill>
                  <a:srgbClr val="17201C"/>
                </a:solidFill>
                <a:latin typeface="Trebuchet MS"/>
              </a:rPr>
              <a:t>Всё на одном экране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42416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68736D"/>
                </a:solidFill>
                <a:latin typeface="Calibri"/>
              </a:rPr>
              <a:t>Таблица результатов, карточка участника и графики обновляются вместе по фильтрам.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6766560" cy="4114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DC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umulative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49502"/>
            <a:ext cx="6355080" cy="358195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5541264"/>
            <a:ext cx="6355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68736D"/>
                </a:solidFill>
                <a:latin typeface="Calibri"/>
              </a:rPr>
              <a:t>Суммарное время по кругам, топ-10 зачёта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35240" y="1783080"/>
            <a:ext cx="3977639" cy="4114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6510">
            <a:solidFill>
              <a:srgbClr val="DC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79" y="2057400"/>
            <a:ext cx="28346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7201C"/>
                </a:solidFill>
                <a:latin typeface="Trebuchet MS"/>
              </a:rPr>
              <a:t>ПЛОТНИКОВА Наталья</a:t>
            </a:r>
          </a:p>
        </p:txBody>
      </p:sp>
      <p:sp>
        <p:nvSpPr>
          <p:cNvPr id="11" name="5-Point Star 10"/>
          <p:cNvSpPr/>
          <p:nvPr/>
        </p:nvSpPr>
        <p:spPr>
          <a:xfrm>
            <a:off x="10899648" y="2093976"/>
            <a:ext cx="365760" cy="365760"/>
          </a:xfrm>
          <a:prstGeom prst="star5">
            <a:avLst/>
          </a:prstGeom>
          <a:solidFill>
            <a:srgbClr val="D69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79" y="2560320"/>
            <a:ext cx="333755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8736D"/>
                </a:solidFill>
                <a:latin typeface="Calibri"/>
              </a:rPr>
              <a:t>Женщины 3.6 км · Лыжероллерный круг 1.2 км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79" y="3017520"/>
            <a:ext cx="1531619" cy="868680"/>
          </a:xfrm>
          <a:prstGeom prst="roundRect">
            <a:avLst>
              <a:gd name="adj" fmla="val 10000"/>
            </a:avLst>
          </a:prstGeom>
          <a:solidFill>
            <a:srgbClr val="EE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59" y="3136391"/>
            <a:ext cx="11658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68736D"/>
                </a:solidFill>
                <a:latin typeface="Calibri"/>
              </a:rPr>
              <a:t>Место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59" y="3401568"/>
            <a:ext cx="11658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7201C"/>
                </a:solidFill>
                <a:latin typeface="Trebuchet MS"/>
              </a:rPr>
              <a:t>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761219" y="3017520"/>
            <a:ext cx="1531619" cy="868680"/>
          </a:xfrm>
          <a:prstGeom prst="roundRect">
            <a:avLst>
              <a:gd name="adj" fmla="val 10000"/>
            </a:avLst>
          </a:prstGeom>
          <a:solidFill>
            <a:srgbClr val="EE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44099" y="3136391"/>
            <a:ext cx="11658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68736D"/>
                </a:solidFill>
                <a:latin typeface="Calibri"/>
              </a:rPr>
              <a:t>Финиш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4099" y="3401568"/>
            <a:ext cx="11658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7201C"/>
                </a:solidFill>
                <a:latin typeface="Trebuchet MS"/>
              </a:rPr>
              <a:t>9:24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55279" y="4142231"/>
            <a:ext cx="1531619" cy="868680"/>
          </a:xfrm>
          <a:prstGeom prst="roundRect">
            <a:avLst>
              <a:gd name="adj" fmla="val 10000"/>
            </a:avLst>
          </a:prstGeom>
          <a:solidFill>
            <a:srgbClr val="EE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8159" y="4261103"/>
            <a:ext cx="11658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68736D"/>
                </a:solidFill>
                <a:latin typeface="Calibri"/>
              </a:rPr>
              <a:t>Лучший круг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59" y="4526279"/>
            <a:ext cx="11658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7201C"/>
                </a:solidFill>
                <a:latin typeface="Trebuchet MS"/>
              </a:rPr>
              <a:t>3:07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761219" y="4142231"/>
            <a:ext cx="1531619" cy="868680"/>
          </a:xfrm>
          <a:prstGeom prst="roundRect">
            <a:avLst>
              <a:gd name="adj" fmla="val 10000"/>
            </a:avLst>
          </a:prstGeom>
          <a:solidFill>
            <a:srgbClr val="EE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44099" y="4261103"/>
            <a:ext cx="11658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68736D"/>
                </a:solidFill>
                <a:latin typeface="Calibri"/>
              </a:rPr>
              <a:t>Разброс кругов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4099" y="4526279"/>
            <a:ext cx="11658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7201C"/>
                </a:solidFill>
                <a:latin typeface="Trebuchet MS"/>
              </a:rPr>
              <a:t>0:03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55279" y="5166360"/>
            <a:ext cx="3337559" cy="566928"/>
          </a:xfrm>
          <a:prstGeom prst="roundRect">
            <a:avLst>
              <a:gd name="adj" fmla="val 12000"/>
            </a:avLst>
          </a:prstGeom>
          <a:solidFill>
            <a:srgbClr val="EC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92440" y="5166360"/>
            <a:ext cx="306323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1">
                <a:solidFill>
                  <a:srgbClr val="0B5751"/>
                </a:solidFill>
                <a:latin typeface="Calibri"/>
              </a:rPr>
              <a:t>Финишировала в темпе первого круга. Круги прошла очень ровно.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539496"/>
            <a:ext cx="182880" cy="38404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475488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 i="0">
                <a:solidFill>
                  <a:srgbClr val="17201C"/>
                </a:solidFill>
                <a:latin typeface="Trebuchet MS"/>
              </a:rPr>
              <a:t>Четыре среза одной гонки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42416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68736D"/>
                </a:solidFill>
                <a:latin typeface="Calibri"/>
              </a:rPr>
              <a:t>Выбрали зачёт — и видно не только время, но и отрыв с позицией по кругам.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9427" y="1783080"/>
            <a:ext cx="5440680" cy="22128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DC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umulativeChart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019" y="1947672"/>
            <a:ext cx="2480718" cy="18836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04107" y="2221991"/>
            <a:ext cx="2057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0F766E"/>
                </a:solidFill>
                <a:latin typeface="Trebuchet MS"/>
              </a:rPr>
              <a:t>Суммарное время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04107" y="2715768"/>
            <a:ext cx="2057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434D47"/>
                </a:solidFill>
                <a:latin typeface="Calibri"/>
              </a:rPr>
              <a:t>Накопленное время на конце каждого круга — кто и где оторвался.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1587" y="1783080"/>
            <a:ext cx="5440680" cy="22128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DC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lapChart_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6179" y="1947672"/>
            <a:ext cx="2480718" cy="188366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456267" y="2221991"/>
            <a:ext cx="2057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0F766E"/>
                </a:solidFill>
                <a:latin typeface="Trebuchet MS"/>
              </a:rPr>
              <a:t>Круги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56267" y="2715768"/>
            <a:ext cx="2057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434D47"/>
                </a:solidFill>
                <a:latin typeface="Calibri"/>
              </a:rPr>
              <a:t>Длительность каждого круга отдельно — где ускорились, а где встали.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9427" y="4306824"/>
            <a:ext cx="5440680" cy="22128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DC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gapChart_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019" y="4471416"/>
            <a:ext cx="2480718" cy="18836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604107" y="4745736"/>
            <a:ext cx="2057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0F766E"/>
                </a:solidFill>
                <a:latin typeface="Trebuchet MS"/>
              </a:rPr>
              <a:t>Отставание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04107" y="5239512"/>
            <a:ext cx="2057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434D47"/>
                </a:solidFill>
                <a:latin typeface="Calibri"/>
              </a:rPr>
              <a:t>Разрыв до лидера зачёта по кругам — как таял или рос отрыв.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1587" y="4306824"/>
            <a:ext cx="5440680" cy="22128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DC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ositionChart_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6179" y="4471416"/>
            <a:ext cx="2480718" cy="188366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456267" y="4745736"/>
            <a:ext cx="2057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0F766E"/>
                </a:solidFill>
                <a:latin typeface="Trebuchet MS"/>
              </a:rPr>
              <a:t>Позиция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56267" y="5239512"/>
            <a:ext cx="2057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434D47"/>
                </a:solidFill>
                <a:latin typeface="Calibri"/>
              </a:rPr>
              <a:t>Как менялось место в зачёте от круга к кругу.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539496"/>
            <a:ext cx="182880" cy="38404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475488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 i="0">
                <a:solidFill>
                  <a:srgbClr val="17201C"/>
                </a:solidFill>
                <a:latin typeface="Trebuchet MS"/>
              </a:rPr>
              <a:t>Что нужно от вас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42416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68736D"/>
                </a:solidFill>
                <a:latin typeface="Calibri"/>
              </a:rPr>
              <a:t>Три простых шага — без разработчика и без новых программ.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3999" y="1965960"/>
            <a:ext cx="3383280" cy="3200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DC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42719" y="2286000"/>
            <a:ext cx="1005840" cy="100584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42719" y="2286000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Trebuchet M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9759" y="3520440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17201C"/>
                </a:solidFill>
                <a:latin typeface="Trebuchet MS"/>
              </a:rPr>
              <a:t>Ведёте таблицу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9759" y="4041648"/>
            <a:ext cx="2651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0" i="0">
                <a:solidFill>
                  <a:srgbClr val="4B554F"/>
                </a:solidFill>
                <a:latin typeface="Calibri"/>
              </a:rPr>
              <a:t>Заполняете результаты в Google Таблице — так же, как привыкли.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73855" y="2743200"/>
            <a:ext cx="5029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D69E2E"/>
                </a:solidFill>
                <a:latin typeface="Trebuchet MS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04207" y="1965960"/>
            <a:ext cx="3383280" cy="3200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DC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592927" y="2286000"/>
            <a:ext cx="1005840" cy="100584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92927" y="2286000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Trebuchet M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69967" y="3520440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17201C"/>
                </a:solidFill>
                <a:latin typeface="Trebuchet MS"/>
              </a:rPr>
              <a:t>Публикуете ссылку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9967" y="4041648"/>
            <a:ext cx="2651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0" i="0">
                <a:solidFill>
                  <a:srgbClr val="4B554F"/>
                </a:solidFill>
                <a:latin typeface="Calibri"/>
              </a:rPr>
              <a:t>Один раз включаете публикацию таблицы как ссылки. Дальше она работает всегда.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24063" y="2743200"/>
            <a:ext cx="5029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D69E2E"/>
                </a:solidFill>
                <a:latin typeface="Trebuchet MS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54415" y="1965960"/>
            <a:ext cx="3383280" cy="3200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DC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543135" y="2286000"/>
            <a:ext cx="1005840" cy="100584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43135" y="2286000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Trebuchet M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20175" y="3520440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17201C"/>
                </a:solidFill>
                <a:latin typeface="Trebuchet MS"/>
              </a:rPr>
              <a:t>Открываете дашборд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20175" y="4041648"/>
            <a:ext cx="2651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0" i="0">
                <a:solidFill>
                  <a:srgbClr val="4B554F"/>
                </a:solidFill>
                <a:latin typeface="Calibri"/>
              </a:rPr>
              <a:t>Вставляете ссылку в Racelytics — и делитесь готовым дашбордом с участниками.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3999" y="5486400"/>
            <a:ext cx="11283696" cy="868680"/>
          </a:xfrm>
          <a:prstGeom prst="roundRect">
            <a:avLst>
              <a:gd name="adj" fmla="val 8000"/>
            </a:avLst>
          </a:prstGeom>
          <a:solidFill>
            <a:srgbClr val="EC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1199" y="5486400"/>
            <a:ext cx="10369296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0" i="0">
                <a:solidFill>
                  <a:srgbClr val="3C463F"/>
                </a:solidFill>
                <a:latin typeface="Calibri"/>
              </a:rPr>
              <a:t>По ходу гонки </a:t>
            </a:r>
            <a:r>
              <a:rPr sz="1500" b="1" i="0">
                <a:solidFill>
                  <a:srgbClr val="0B5751"/>
                </a:solidFill>
                <a:latin typeface="Trebuchet MS"/>
              </a:rPr>
              <a:t>дописываете круги прямо в таблицу</a:t>
            </a:r>
            <a:r>
              <a:rPr sz="1500" b="0" i="0">
                <a:solidFill>
                  <a:srgbClr val="3C463F"/>
                </a:solidFill>
                <a:latin typeface="Calibri"/>
              </a:rPr>
              <a:t> — дашборд обновляется сам.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2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68680" y="1554480"/>
            <a:ext cx="164592" cy="164592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252728" y="1554480"/>
            <a:ext cx="164592" cy="16459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36776" y="1554480"/>
            <a:ext cx="164592" cy="164592"/>
          </a:xfrm>
          <a:prstGeom prst="ellipse">
            <a:avLst/>
          </a:prstGeom>
          <a:solidFill>
            <a:srgbClr val="D69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020824" y="1554480"/>
            <a:ext cx="164592" cy="164592"/>
          </a:xfrm>
          <a:prstGeom prst="ellipse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103120"/>
            <a:ext cx="107899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4000" b="1" i="0">
                <a:solidFill>
                  <a:srgbClr val="FFFFFF"/>
                </a:solidFill>
                <a:latin typeface="Trebuchet MS"/>
              </a:rPr>
              <a:t>Дашборд уже опубликован.</a:t>
            </a:r>
          </a:p>
          <a:p>
            <a:pPr algn="l">
              <a:lnSpc>
                <a:spcPct val="104000"/>
              </a:lnSpc>
            </a:pPr>
            <a:r>
              <a:rPr sz="4000" b="1" i="0">
                <a:solidFill>
                  <a:srgbClr val="FFFFFF"/>
                </a:solidFill>
                <a:latin typeface="Trebuchet MS"/>
              </a:rPr>
              <a:t>Вставляете ссылку — и пользуетесь.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114800"/>
            <a:ext cx="10241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C7D2CC"/>
                </a:solidFill>
                <a:latin typeface="Calibri"/>
              </a:rPr>
              <a:t>Заходите на страницу, добавляете публичную ссылку на свою Google Таблицу — </a:t>
            </a:r>
            <a:r>
              <a:rPr sz="1800" b="1" i="0">
                <a:solidFill>
                  <a:srgbClr val="2A9D8F"/>
                </a:solidFill>
                <a:latin typeface="Calibri"/>
              </a:rPr>
              <a:t>и всё работает. Никого просить не нужно.</a:t>
            </a:r>
          </a:p>
        </p:txBody>
      </p:sp>
      <p:pic>
        <p:nvPicPr>
          <p:cNvPr id="9" name="Picture 8" descr="logo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440680"/>
            <a:ext cx="1072910" cy="868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057400" y="5559552"/>
            <a:ext cx="82296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Trebuchet MS"/>
              </a:rPr>
              <a:t>Racelytics</a:t>
            </a:r>
            <a:r>
              <a:rPr sz="1400" b="0" i="0">
                <a:solidFill>
                  <a:srgbClr val="8C968F"/>
                </a:solidFill>
                <a:latin typeface="Calibri"/>
              </a:rPr>
              <a:t>   ·   просто и надёжно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